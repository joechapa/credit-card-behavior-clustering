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Spend</c:v>
                </c:pt>
              </c:strCache>
            </c:strRef>
          </c:tx>
          <c:spPr>
            <a:solidFill>
              <a:srgbClr val="747D8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47D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76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B0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3E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303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74B9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Frequent Flyer</c:v>
                  </c:pt>
                  <c:pt idx="1">
                    <c:v>Wellness Whale</c:v>
                  </c:pt>
                  <c:pt idx="2">
                    <c:v>Urban Commuter</c:v>
                  </c:pt>
                  <c:pt idx="3">
                    <c:v>Convenience Seeker</c:v>
                  </c:pt>
                  <c:pt idx="4">
                    <c:v>Modern Gifter</c:v>
                  </c:pt>
                  <c:pt idx="5">
                    <c:v>Socialite</c:v>
                  </c:pt>
                  <c:pt idx="6">
                    <c:v>Digital Power Shopper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533</c:v>
                </c:pt>
                <c:pt idx="1">
                  <c:v>2658</c:v>
                </c:pt>
                <c:pt idx="2">
                  <c:v>1497</c:v>
                </c:pt>
                <c:pt idx="3">
                  <c:v>1020</c:v>
                </c:pt>
                <c:pt idx="4">
                  <c:v>1414</c:v>
                </c:pt>
                <c:pt idx="5">
                  <c:v>1760</c:v>
                </c:pt>
                <c:pt idx="6">
                  <c:v>3210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533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9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Everyday Essential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Freq. Flyer</c:v>
                  </c:pt>
                  <c:pt idx="1">
                    <c:v>Socialite</c:v>
                  </c:pt>
                  <c:pt idx="2">
                    <c:v>Wellness
Whale</c:v>
                  </c:pt>
                  <c:pt idx="3">
                    <c:v>Urban
Commuter</c:v>
                  </c:pt>
                  <c:pt idx="4">
                    <c:v>Digital
Power</c:v>
                  </c:pt>
                  <c:pt idx="5">
                    <c:v>Convenience
Seeker</c:v>
                  </c:pt>
                  <c:pt idx="6">
                    <c:v>Modern
Gifter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3.2</c:v>
                </c:pt>
                <c:pt idx="1">
                  <c:v>12.5</c:v>
                </c:pt>
                <c:pt idx="2">
                  <c:v>14</c:v>
                </c:pt>
                <c:pt idx="3">
                  <c:v>9.8</c:v>
                </c:pt>
                <c:pt idx="4">
                  <c:v>18.5</c:v>
                </c:pt>
                <c:pt idx="5">
                  <c:v>6.1</c:v>
                </c:pt>
                <c:pt idx="6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Omni Digital</c:v>
                </c:pt>
              </c:strCache>
            </c:strRef>
          </c:tx>
          <c:spPr>
            <a:solidFill>
              <a:srgbClr val="574B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Freq. Flyer</c:v>
                  </c:pt>
                  <c:pt idx="1">
                    <c:v>Socialite</c:v>
                  </c:pt>
                  <c:pt idx="2">
                    <c:v>Wellness
Whale</c:v>
                  </c:pt>
                  <c:pt idx="3">
                    <c:v>Urban
Commuter</c:v>
                  </c:pt>
                  <c:pt idx="4">
                    <c:v>Digital
Power</c:v>
                  </c:pt>
                  <c:pt idx="5">
                    <c:v>Convenience
Seeker</c:v>
                  </c:pt>
                  <c:pt idx="6">
                    <c:v>Modern
Gifter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5.8</c:v>
                </c:pt>
                <c:pt idx="1">
                  <c:v>16.2</c:v>
                </c:pt>
                <c:pt idx="2">
                  <c:v>18.4</c:v>
                </c:pt>
                <c:pt idx="3">
                  <c:v>13.2</c:v>
                </c:pt>
                <c:pt idx="4">
                  <c:v>22.1</c:v>
                </c:pt>
                <c:pt idx="5">
                  <c:v>9.4</c:v>
                </c:pt>
                <c:pt idx="6">
                  <c:v>11.2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Apex Premium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Freq. Flyer</c:v>
                  </c:pt>
                  <c:pt idx="1">
                    <c:v>Socialite</c:v>
                  </c:pt>
                  <c:pt idx="2">
                    <c:v>Wellness
Whale</c:v>
                  </c:pt>
                  <c:pt idx="3">
                    <c:v>Urban
Commuter</c:v>
                  </c:pt>
                  <c:pt idx="4">
                    <c:v>Digital
Power</c:v>
                  </c:pt>
                  <c:pt idx="5">
                    <c:v>Convenience
Seeker</c:v>
                  </c:pt>
                  <c:pt idx="6">
                    <c:v>Modern
Gifter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9.1</c:v>
                </c:pt>
                <c:pt idx="1">
                  <c:v>19.8</c:v>
                </c:pt>
                <c:pt idx="2">
                  <c:v>22.6</c:v>
                </c:pt>
                <c:pt idx="3">
                  <c:v>16.5</c:v>
                </c:pt>
                <c:pt idx="4">
                  <c:v>25.3</c:v>
                </c:pt>
                <c:pt idx="5">
                  <c:v>12.2</c:v>
                </c:pt>
                <c:pt idx="6">
                  <c:v>14.8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533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3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2533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Key message: traditional card design uses demographics. This project uses behavioral clustering instead. Walk through the four stats as a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'relevance gap': same demographics, opposite lifestyles. This is the motivation for clustering on behavior instead of attributes.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phase briefly. Emphasize the normalisation decision: % of spend rather than raw dollars, so lifestyle is independent of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segments from k=7, minus one extreme outlier ($5M user). Point out Cluster 4 — it's both the biggest population share AND the highest spender. That combination is rare and drives the entire product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sorted to make the value gap visual. Key talking point: same lifestyle share can mean very different dollars. A 20% food share = $40/month for one segment, $640/month for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solves for 100% of users with 3 products. Key design principle: annual fees are structural — they bridge interchange gaps, not arbitrary charges. The Omni Digital tier is the most important to explain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chart: every bar is positive. This is the stress test — even adverse selection (wrong card choice) keeps the issuer profitable. Note the disclaimer on interchange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thesis restated. Offer to walk through the full notebook for technical depth. Good discussion question: which segment would you prioritize for launch — Cluster 4 (biggest) or Cluster 2 (highest margin density)?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560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CLUSTERING &amp; SIMULATION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Credit Card Rewards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Real Customer Behavior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Product Design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3977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5338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4,844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3977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5338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65176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0600" y="3977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5338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80060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Tiers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3977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25338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39959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949440" y="4389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Challenge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credit cards are built around who a customer is — not what they actually 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6420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121408"/>
            <a:ext cx="35295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demographics: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bracket, credit score,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high-income traveler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high-income homebody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same card.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5087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BF2FF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01768" y="166420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Project's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01768" y="2121408"/>
            <a:ext cx="35295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behavioral signature: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money moves, how often,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consistently.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rewards that match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actually spend.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Behavioral segmentation enables a leaner, more intuitive product catalog.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— from raw transactions to product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727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21208" y="206654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Signal Validation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1208" y="26060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accounts · 4,844 active users retained (99.95%)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transaction logs for behavioral signal quality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87168" y="141732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5727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35808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624328" y="206654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624328" y="26060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% per category · transaction frequency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volatility · credit utilization ratio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90288" y="141732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5727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38928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727448" y="206654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727448" y="26060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→ k = 7 · one outlier removed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robust behavioral segments identified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93408" y="1417320"/>
            <a:ext cx="1920240" cy="3337560"/>
          </a:xfrm>
          <a:prstGeom prst="roundRect">
            <a:avLst>
              <a:gd name="adj" fmla="val 4762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57276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42048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830568" y="2066544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Simulation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30568" y="2606040"/>
            <a:ext cx="16642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3-card portfolio · interchange-based margin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across all segment × card combinations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Behavioral Segments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spend signatures revealed six distinct lifestyle profiles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68880" y="1234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 Category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17720" y="1234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234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Avg/Month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64208"/>
            <a:ext cx="201168" cy="201168"/>
          </a:xfrm>
          <a:prstGeom prst="ellipse">
            <a:avLst/>
          </a:prstGeom>
          <a:solidFill>
            <a:srgbClr val="747D8C"/>
          </a:solidFill>
          <a:ln w="12700">
            <a:solidFill>
              <a:srgbClr val="747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Flyer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15727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0" y="157276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438912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39696"/>
            <a:ext cx="201168" cy="201168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04825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68880" y="20482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20482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204825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$1,760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615184"/>
            <a:ext cx="201168" cy="201168"/>
          </a:xfrm>
          <a:prstGeom prst="ellipse">
            <a:avLst/>
          </a:prstGeom>
          <a:solidFill>
            <a:srgbClr val="FF7675"/>
          </a:solidFill>
          <a:ln w="12700">
            <a:solidFill>
              <a:srgbClr val="FF76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5237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Whale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68880" y="25237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5237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0" y="252374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$2,658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2962656"/>
            <a:ext cx="8229600" cy="438912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90672"/>
            <a:ext cx="201168" cy="201168"/>
          </a:xfrm>
          <a:prstGeom prst="ellipse">
            <a:avLst/>
          </a:prstGeom>
          <a:solidFill>
            <a:srgbClr val="6AB04C"/>
          </a:solidFill>
          <a:ln w="12700">
            <a:solidFill>
              <a:srgbClr val="6AB0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9992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Commuter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68880" y="29992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Rideshare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7720" y="2999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29992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$1,497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43814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566160"/>
            <a:ext cx="201168" cy="201168"/>
          </a:xfrm>
          <a:prstGeom prst="ellipse">
            <a:avLst/>
          </a:prstGeom>
          <a:solidFill>
            <a:srgbClr val="574B90"/>
          </a:solidFill>
          <a:ln w="12700">
            <a:solidFill>
              <a:srgbClr val="574B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Power Shopper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468880" y="3474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1772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29.4%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83680" y="3474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$3,210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913632"/>
            <a:ext cx="8229600" cy="438912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041648"/>
            <a:ext cx="201168" cy="201168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950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Seeker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468880" y="3950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61772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583680" y="39502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4517136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4256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Gifter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468880" y="44256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Food/Household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617720" y="44256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583680" y="442569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$1,414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7200" y="4736592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EDE9FE"/>
          </a:solidFill>
          <a:ln w="12700">
            <a:solidFill>
              <a:srgbClr val="574B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74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Digital Power Shopper (Cluster 4): largest segment by population AND highest monthly spend — the product anchor.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spending pattern, very different revenue stakes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9050">
            <a:solidFill>
              <a:srgbClr val="574B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 Spend Gap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80760" y="1591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Power Shopper spends 6× more than the Frequent Flyer. A flat reward rate leaves that value uncaptured.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97880" y="246888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High-Value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80760" y="28712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Whale is only 2.2% of users but averages $2,658/month — in a category most cards ignore.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97880" y="374904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 in Three Segments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4151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4, 5 &amp; 6 represent 70.5% of users. Product strategy must work for this group first.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designed around behavioral clusters — not demographics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Essential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Annual Fee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Seeker · Modern Gifter · Frequent Flyer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~51% of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categories: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Food · Grocery · Household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7307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card. 2% on daily essentials at no annual fee captures massive transaction volume. Positive spread between interchange earned and rewards paid.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4173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574B90"/>
          </a:solidFill>
          <a:ln w="12700">
            <a:solidFill>
              <a:srgbClr val="574B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783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 Digital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4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 Annual Fee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542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Power Shopper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29.4% of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categories: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· Subscriptions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7307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interchange (~1.8%) sits below the 3% reward rate. The annual fee bridges that gap — converting the largest segment from a potential loss-leader into a sustainable growth engine.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28016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4173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Anchor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17830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Apex Premium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 Annual Fee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2542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Whale · Socialite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 of users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categories: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Entertainment · Airlines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73075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High-interchange categories (~2.5%) support aggressive 3% rewards. Annual fee strengthens economics further. Highest margin per user in the portfolio.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Simulation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= Interchange Revenue + Monthly Fee − Reward Payout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344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5392" y="18562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segments profitable across all card types — no red cells in the margin matrix.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346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65392" y="28163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Digital's $120 fee converts the Digital Power Shopper from loss-leader to profit center.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65392" y="377647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53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payout exceeds net margin by design — that gap is what earns top-of-wallet status.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Margin values are illustrative estimates based on industry-standard interchange rates (Mastercard/Visa World Elite). Actual rates are negotiated privately.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88720" y="1234440"/>
            <a:ext cx="18288" cy="6858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972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Behavior, not demographics, determines product fit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9961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distinct spending profiles emerged from transaction data alone. Demographics would not have revealed the Wellness Whale or separated the Digital Power Shopper from the Convenience Seeker.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188720" y="2514600"/>
            <a:ext cx="18288" cy="6858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3774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fees are a design tool, not a revenue trick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7977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Omni Digital tier's $120 fee exists because Online Retail interchange (~1.8%) sits below the reward rate. The fee is the structural solution to the interchange gap.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188720" y="3794760"/>
            <a:ext cx="18288" cy="685800"/>
          </a:xfrm>
          <a:prstGeom prst="rect">
            <a:avLst/>
          </a:prstGeom>
          <a:solidFill>
            <a:srgbClr val="253380"/>
          </a:solidFill>
          <a:ln w="12700">
            <a:solidFill>
              <a:srgbClr val="2533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6576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products serve 100% of users profitably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05993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was stress-tested across every segment × card combination. The margin stays positive in every scenario — structural resilience, not a best-case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designed around how users actually spend are more relevant to the customer — and more profitable for the issuer.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Credit Card Rewards Around Real Customer Behavior</dc:title>
  <dc:subject>PptxGenJS Presentation</dc:subject>
  <dc:creator>PptxGenJS</dc:creator>
  <cp:lastModifiedBy>PptxGenJS</cp:lastModifiedBy>
  <cp:revision>1</cp:revision>
  <dcterms:created xsi:type="dcterms:W3CDTF">2026-06-11T02:19:16Z</dcterms:created>
  <dcterms:modified xsi:type="dcterms:W3CDTF">2026-06-11T02:19:16Z</dcterms:modified>
</cp:coreProperties>
</file>